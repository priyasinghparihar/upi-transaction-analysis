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548640"/>
            <a:ext cx="3200400" cy="2011680"/>
          </a:xfrm>
          <a:prstGeom prst="round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78240" y="1188720"/>
            <a:ext cx="2560320" cy="1828800"/>
          </a:xfrm>
          <a:prstGeom prst="roundRect">
            <a:avLst/>
          </a:prstGeom>
          <a:solidFill>
            <a:srgbClr val="B72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80960" y="2926080"/>
            <a:ext cx="3383280" cy="2194560"/>
          </a:xfrm>
          <a:prstGeom prst="roundRect">
            <a:avLst/>
          </a:prstGeom>
          <a:solidFill>
            <a:srgbClr val="4C2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694944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DCC7EF"/>
                </a:solidFill>
                <a:latin typeface="Aptos"/>
              </a:defRPr>
            </a:pPr>
            <a:r>
              <a:t>DATA ANALYST PORTFOLIO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6766560" cy="1325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3100" b="1" i="0">
                <a:solidFill>
                  <a:srgbClr val="FFFFFF"/>
                </a:solidFill>
                <a:latin typeface="Aptos Display"/>
              </a:defRPr>
            </a:pPr>
            <a:r>
              <a:t>UPI TRANSACTION</a:t>
            </a:r>
            <a:br/>
            <a:r>
              <a:t>ANALYTICS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83280"/>
            <a:ext cx="6217920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700" b="0" i="0">
                <a:solidFill>
                  <a:srgbClr val="E6E1F0"/>
                </a:solidFill>
                <a:latin typeface="Aptos"/>
              </a:defRPr>
            </a:pPr>
            <a:r>
              <a:t>Turning transaction data into performance insights, trend analysis, and risk-focused questions.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74920"/>
            <a:ext cx="603504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Primary tool: Microsoft Excel  |  Domain: Digital Payments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17920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900" b="0" i="0">
                <a:solidFill>
                  <a:srgbClr val="C3BED6"/>
                </a:solidFill>
                <a:latin typeface="Aptos"/>
              </a:defRPr>
            </a:pPr>
            <a:r>
              <a:t>PORTFOLIO PRESENTATION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500" b="1" i="0">
                <a:solidFill>
                  <a:srgbClr val="171F3E"/>
                </a:solidFill>
                <a:latin typeface="Aptos Display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9716A6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5486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800" b="0" i="0">
                <a:solidFill>
                  <a:srgbClr val="33374C"/>
                </a:solidFill>
                <a:latin typeface="Aptos"/>
              </a:defRPr>
            </a:pPr>
            <a:r>
              <a:t>A single view of transaction performance, distribution, timing, and potential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5603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F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938528"/>
            <a:ext cx="2240280" cy="3931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2300" b="1" i="0">
                <a:solidFill>
                  <a:srgbClr val="9716A6"/>
                </a:solidFill>
                <a:latin typeface="Aptos Display"/>
              </a:defRPr>
            </a:pPr>
            <a:r>
              <a:t>502,887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395728"/>
            <a:ext cx="224028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000" b="0" i="0">
                <a:solidFill>
                  <a:srgbClr val="70748B"/>
                </a:solidFill>
                <a:latin typeface="Aptos"/>
              </a:defRPr>
            </a:pPr>
            <a:r>
              <a:t>Total transactions shown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783080"/>
            <a:ext cx="25603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F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1" y="1938528"/>
            <a:ext cx="2240280" cy="3931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2300" b="1" i="0">
                <a:solidFill>
                  <a:srgbClr val="9716A6"/>
                </a:solidFill>
                <a:latin typeface="Aptos Display"/>
              </a:defRPr>
            </a:pPr>
            <a:r>
              <a:t>₹44.25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395728"/>
            <a:ext cx="224028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000" b="0" i="0">
                <a:solidFill>
                  <a:srgbClr val="70748B"/>
                </a:solidFill>
                <a:latin typeface="Aptos"/>
              </a:defRPr>
            </a:pPr>
            <a:r>
              <a:t>Total transaction amount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783080"/>
            <a:ext cx="25603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F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938528"/>
            <a:ext cx="2240280" cy="3931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2300" b="1" i="0">
                <a:solidFill>
                  <a:srgbClr val="9716A6"/>
                </a:solidFill>
                <a:latin typeface="Aptos Display"/>
              </a:defRPr>
            </a:pPr>
            <a:r>
              <a:t>91%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395728"/>
            <a:ext cx="224028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000" b="0" i="0">
                <a:solidFill>
                  <a:srgbClr val="70748B"/>
                </a:solidFill>
                <a:latin typeface="Aptos"/>
              </a:defRPr>
            </a:pPr>
            <a:r>
              <a:t>Reported success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59" y="1783080"/>
            <a:ext cx="25603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F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45751" y="1938528"/>
            <a:ext cx="2240280" cy="3931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2300" b="1" i="0">
                <a:solidFill>
                  <a:srgbClr val="9716A6"/>
                </a:solidFill>
                <a:latin typeface="Aptos Display"/>
              </a:defRPr>
            </a:pPr>
            <a:r>
              <a:t>17,089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5751" y="2395728"/>
            <a:ext cx="224028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000" b="0" i="0">
                <a:solidFill>
                  <a:srgbClr val="70748B"/>
                </a:solidFill>
                <a:latin typeface="Aptos"/>
              </a:defRPr>
            </a:pPr>
            <a:r>
              <a:t>Suspected-fraud transactions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46120"/>
            <a:ext cx="53492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246120"/>
            <a:ext cx="64008" cy="2011680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392424"/>
            <a:ext cx="498347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Project purpose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3776472"/>
            <a:ext cx="4983479" cy="135331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500" b="0" i="0">
                <a:solidFill>
                  <a:srgbClr val="33374C"/>
                </a:solidFill>
                <a:latin typeface="Aptos"/>
              </a:defRPr>
            </a:pPr>
            <a:r>
              <a:t>Use an interactive Excel dashboard to compare transaction amounts and outcomes across time, UPI apps, banks, states, and transaction types.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24612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246120"/>
            <a:ext cx="64008" cy="201168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7" y="3392424"/>
            <a:ext cx="489204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Important validation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7" y="3776472"/>
            <a:ext cx="4892040" cy="135331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500" b="0" i="0">
                <a:solidFill>
                  <a:srgbClr val="33374C"/>
                </a:solidFill>
                <a:latin typeface="Aptos"/>
              </a:defRPr>
            </a:pPr>
            <a:r>
              <a:t>Figures on the dashboard are presented as displayed. Reconcile KPI definitions, filters, totals, and fraud-rate calculations with the source workbook before formal reporting.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800" b="0" i="0">
                <a:solidFill>
                  <a:srgbClr val="70748B"/>
                </a:solidFill>
                <a:latin typeface="Aptos"/>
              </a:defRPr>
            </a:pPr>
            <a:r>
              <a:t>UPI TRANSACTION ANALYTICS  •  EXCEL DATA ANALYST PORTFOLIO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70748B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500" b="1" i="0">
                <a:solidFill>
                  <a:srgbClr val="171F3E"/>
                </a:solidFill>
                <a:latin typeface="Aptos Display"/>
              </a:defRPr>
            </a:pPr>
            <a:r>
              <a:t>Business Problem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9716A6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64008" cy="1828800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289304"/>
            <a:ext cx="49377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Business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673352"/>
            <a:ext cx="4937759" cy="11704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600" b="0" i="0">
                <a:solidFill>
                  <a:srgbClr val="33374C"/>
                </a:solidFill>
                <a:latin typeface="Aptos"/>
              </a:defRPr>
            </a:pPr>
            <a:r>
              <a:t>Transaction records contain many dimensions. Without a consolidated view, it is difficult to monitor outcomes, compare segments, and spot unusual patterns.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4300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64008" cy="182880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289304"/>
            <a:ext cx="49377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673352"/>
            <a:ext cx="4937759" cy="11704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600" b="0" i="0">
                <a:solidFill>
                  <a:srgbClr val="33374C"/>
                </a:solidFill>
                <a:latin typeface="Aptos"/>
              </a:defRPr>
            </a:pPr>
            <a:r>
              <a:t>Summarize performance with KPIs; explore time, geography, app, bank, and type; review status distribution; and identify suspected-fraud segments for investigation.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1069848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800" b="1" i="0">
                <a:solidFill>
                  <a:srgbClr val="171F3E"/>
                </a:solidFill>
                <a:latin typeface="Aptos"/>
              </a:defRPr>
            </a:pPr>
            <a:r>
              <a:t>Core analytical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77639"/>
            <a:ext cx="10424160" cy="1554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74C"/>
                </a:solidFill>
                <a:latin typeface="Aptos"/>
              </a:defRPr>
            </a:pPr>
            <a:r>
              <a:t>•  How much transaction value is processed, and what share succeeds?</a:t>
            </a:r>
          </a:p>
          <a:p>
            <a:pPr>
              <a:spcAft>
                <a:spcPts val="1200"/>
              </a:spcAft>
              <a:defRPr sz="1500">
                <a:solidFill>
                  <a:srgbClr val="33374C"/>
                </a:solidFill>
                <a:latin typeface="Aptos"/>
              </a:defRPr>
            </a:pPr>
            <a:r>
              <a:t>•  Which apps, banks, states, and transaction types contribute the most value?</a:t>
            </a:r>
          </a:p>
          <a:p>
            <a:pPr>
              <a:spcAft>
                <a:spcPts val="1200"/>
              </a:spcAft>
              <a:defRPr sz="1500">
                <a:solidFill>
                  <a:srgbClr val="33374C"/>
                </a:solidFill>
                <a:latin typeface="Aptos"/>
              </a:defRPr>
            </a:pPr>
            <a:r>
              <a:t>•  When is activity concentrated, and where do failed or flagged transactions need review?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800" b="0" i="0">
                <a:solidFill>
                  <a:srgbClr val="70748B"/>
                </a:solidFill>
                <a:latin typeface="Aptos"/>
              </a:defRPr>
            </a:pPr>
            <a:r>
              <a:t>UPI TRANSACTION ANALYTICS  •  EXCEL DATA ANALYST PORTFOLIO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70748B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500" b="1" i="0">
                <a:solidFill>
                  <a:srgbClr val="171F3E"/>
                </a:solidFill>
                <a:latin typeface="Aptos Display"/>
              </a:defRPr>
            </a:pPr>
            <a: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9716A6"/>
                </a:solidFill>
                <a:latin typeface="Aptos"/>
              </a:defRPr>
            </a:pPr>
            <a:r>
              <a:t>DATA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78992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600" b="0" i="0">
                <a:solidFill>
                  <a:srgbClr val="33374C"/>
                </a:solidFill>
                <a:latin typeface="Aptos"/>
              </a:defRPr>
            </a:pPr>
            <a:r>
              <a:t>The raw-data screenshot shows transaction-level records and fields suitable for multi-dimensional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2578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64008" cy="93268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46504"/>
            <a:ext cx="489204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Identifiers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30552"/>
            <a:ext cx="489204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00" b="0" i="0">
                <a:solidFill>
                  <a:srgbClr val="33374C"/>
                </a:solidFill>
                <a:latin typeface="Aptos"/>
              </a:defRPr>
            </a:pPr>
            <a:r>
              <a:t>Transaction_ID, Customer_ID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00200"/>
            <a:ext cx="52578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00200"/>
            <a:ext cx="64008" cy="932688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746504"/>
            <a:ext cx="489204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130552"/>
            <a:ext cx="489204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00" b="0" i="0">
                <a:solidFill>
                  <a:srgbClr val="33374C"/>
                </a:solidFill>
                <a:latin typeface="Aptos"/>
              </a:defRPr>
            </a:pPr>
            <a:r>
              <a:t>Transaction_Date, Transaction_Time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70632"/>
            <a:ext cx="52578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770632"/>
            <a:ext cx="64008" cy="93268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2916936"/>
            <a:ext cx="489204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300984"/>
            <a:ext cx="489204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00" b="0" i="0">
                <a:solidFill>
                  <a:srgbClr val="33374C"/>
                </a:solidFill>
                <a:latin typeface="Aptos"/>
              </a:defRPr>
            </a:pPr>
            <a:r>
              <a:t>Age_Group, Gender, State, City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770632"/>
            <a:ext cx="52578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770632"/>
            <a:ext cx="64008" cy="932688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2916936"/>
            <a:ext cx="489204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Merchant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00984"/>
            <a:ext cx="489204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00" b="0" i="0">
                <a:solidFill>
                  <a:srgbClr val="33374C"/>
                </a:solidFill>
                <a:latin typeface="Aptos"/>
              </a:defRPr>
            </a:pPr>
            <a:r>
              <a:t>Merchant_Name, Merchant_Category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41064"/>
            <a:ext cx="52578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941064"/>
            <a:ext cx="64008" cy="93268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087368"/>
            <a:ext cx="489204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Payment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471416"/>
            <a:ext cx="489204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00" b="0" i="0">
                <a:solidFill>
                  <a:srgbClr val="33374C"/>
                </a:solidFill>
                <a:latin typeface="Aptos"/>
              </a:defRPr>
            </a:pPr>
            <a:r>
              <a:t>Transaction_Type, Payment_Method, UPI_App, Bank_Name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941064"/>
            <a:ext cx="52578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3941064"/>
            <a:ext cx="64008" cy="932688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4087368"/>
            <a:ext cx="489204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Amounts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4471416"/>
            <a:ext cx="489204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00" b="0" i="0">
                <a:solidFill>
                  <a:srgbClr val="33374C"/>
                </a:solidFill>
                <a:latin typeface="Aptos"/>
              </a:defRPr>
            </a:pPr>
            <a:r>
              <a:t>Amount_INR, Cashback, Transaction_Fee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111496"/>
            <a:ext cx="52578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5111496"/>
            <a:ext cx="64008" cy="93268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5257800"/>
            <a:ext cx="489204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Outcome &amp; 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5641848"/>
            <a:ext cx="489204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00" b="0" i="0">
                <a:solidFill>
                  <a:srgbClr val="33374C"/>
                </a:solidFill>
                <a:latin typeface="Aptos"/>
              </a:defRPr>
            </a:pPr>
            <a:r>
              <a:t>Status, Failure_Reason, Device_Type, Risk_Score, Is_Suspected_Fraud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486400"/>
            <a:ext cx="1078992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0" i="1">
                <a:solidFill>
                  <a:srgbClr val="70748B"/>
                </a:solidFill>
                <a:latin typeface="Aptos"/>
              </a:defRPr>
            </a:pPr>
            <a:r>
              <a:t>Dataset size and date range should be calculated directly from the workbook; the screenshot alone is not enough to validate them.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800" b="0" i="0">
                <a:solidFill>
                  <a:srgbClr val="70748B"/>
                </a:solidFill>
                <a:latin typeface="Aptos"/>
              </a:defRPr>
            </a:pPr>
            <a:r>
              <a:t>UPI TRANSACTION ANALYTICS  •  EXCEL DATA ANALYST PORTFOLIO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70748B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500" b="1" i="0">
                <a:solidFill>
                  <a:srgbClr val="171F3E"/>
                </a:solidFill>
                <a:latin typeface="Aptos Display"/>
              </a:defRPr>
            </a:pPr>
            <a:r>
              <a:t>Data Preparation &amp; Quality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9716A6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216152"/>
            <a:ext cx="502920" cy="502920"/>
          </a:xfrm>
          <a:prstGeom prst="ellipse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16736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143000"/>
            <a:ext cx="22860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600" b="1" i="0">
                <a:solidFill>
                  <a:srgbClr val="171F3E"/>
                </a:solidFill>
                <a:latin typeface="Aptos"/>
              </a:defRPr>
            </a:pPr>
            <a:r>
              <a:t>Inspect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143000"/>
            <a:ext cx="7223760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0" i="0">
                <a:solidFill>
                  <a:srgbClr val="33374C"/>
                </a:solidFill>
                <a:latin typeface="Aptos"/>
              </a:defRPr>
            </a:pPr>
            <a:r>
              <a:t>Confirm columns, data types, date/time formats, and units.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359152"/>
            <a:ext cx="502920" cy="502920"/>
          </a:xfrm>
          <a:prstGeom prst="ellipse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59736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286000"/>
            <a:ext cx="22860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600" b="1" i="0">
                <a:solidFill>
                  <a:srgbClr val="171F3E"/>
                </a:solidFill>
                <a:latin typeface="Aptos"/>
              </a:defRPr>
            </a:pPr>
            <a:r>
              <a:t>Validate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286000"/>
            <a:ext cx="7223760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0" i="0">
                <a:solidFill>
                  <a:srgbClr val="33374C"/>
                </a:solidFill>
                <a:latin typeface="Aptos"/>
              </a:defRPr>
            </a:pPr>
            <a:r>
              <a:t>Check missing values, duplicate IDs, and inconsistent categories.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502152"/>
            <a:ext cx="502920" cy="502920"/>
          </a:xfrm>
          <a:prstGeom prst="ellipse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02736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429000"/>
            <a:ext cx="22860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600" b="1" i="0">
                <a:solidFill>
                  <a:srgbClr val="171F3E"/>
                </a:solidFill>
                <a:latin typeface="Aptos"/>
              </a:defRPr>
            </a:pPr>
            <a:r>
              <a:t>Prepare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429000"/>
            <a:ext cx="7223760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0" i="0">
                <a:solidFill>
                  <a:srgbClr val="33374C"/>
                </a:solidFill>
                <a:latin typeface="Aptos"/>
              </a:defRPr>
            </a:pPr>
            <a:r>
              <a:t>Derive hour, weekday, month, and other time fields when needed.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645152"/>
            <a:ext cx="502920" cy="502920"/>
          </a:xfrm>
          <a:prstGeom prst="ellipse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45736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572000"/>
            <a:ext cx="22860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600" b="1" i="0">
                <a:solidFill>
                  <a:srgbClr val="171F3E"/>
                </a:solidFill>
                <a:latin typeface="Aptos"/>
              </a:defRPr>
            </a:pPr>
            <a:r>
              <a:t>Validate calculations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4572000"/>
            <a:ext cx="7223760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0" i="0">
                <a:solidFill>
                  <a:srgbClr val="33374C"/>
                </a:solidFill>
                <a:latin typeface="Aptos"/>
              </a:defRPr>
            </a:pPr>
            <a:r>
              <a:t>Reconcile amounts, cashback, status counts, and fraud-rate denominator.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1">
                <a:solidFill>
                  <a:srgbClr val="70748B"/>
                </a:solidFill>
                <a:latin typeface="Aptos"/>
              </a:defRPr>
            </a:pPr>
            <a:r>
              <a:t>Report only the cleaning steps actually completed; treat the list above as a validation framework until confirmed.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800" b="0" i="0">
                <a:solidFill>
                  <a:srgbClr val="70748B"/>
                </a:solidFill>
                <a:latin typeface="Aptos"/>
              </a:defRPr>
            </a:pPr>
            <a:r>
              <a:t>UPI TRANSACTION ANALYTICS  •  EXCEL DATA ANALYST PORTFOLIO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70748B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500" b="1" i="0">
                <a:solidFill>
                  <a:srgbClr val="171F3E"/>
                </a:solidFill>
                <a:latin typeface="Aptos Display"/>
              </a:defRPr>
            </a:pPr>
            <a:r>
              <a:t>KPI Framework &amp; 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9716A6"/>
                </a:solidFill>
                <a:latin typeface="Aptos"/>
              </a:defRPr>
            </a:pPr>
            <a:r>
              <a:t>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5349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64008" cy="960120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197863"/>
            <a:ext cx="498347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Total transactions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581912"/>
            <a:ext cx="4983479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0" i="0">
                <a:solidFill>
                  <a:srgbClr val="33374C"/>
                </a:solidFill>
                <a:latin typeface="Aptos"/>
              </a:defRPr>
            </a:pPr>
            <a:r>
              <a:t>Count of valid transaction records or unique Transaction_IDs.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51560"/>
            <a:ext cx="5349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051560"/>
            <a:ext cx="64008" cy="96012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197863"/>
            <a:ext cx="498347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Total amount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581912"/>
            <a:ext cx="4983479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0" i="0">
                <a:solidFill>
                  <a:srgbClr val="33374C"/>
                </a:solidFill>
                <a:latin typeface="Aptos"/>
              </a:defRPr>
            </a:pPr>
            <a:r>
              <a:t>Sum of Amount_INR within the selected filters.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258568"/>
            <a:ext cx="5349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258568"/>
            <a:ext cx="64008" cy="960120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404872"/>
            <a:ext cx="498347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Average transaction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788920"/>
            <a:ext cx="4983479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0" i="0">
                <a:solidFill>
                  <a:srgbClr val="33374C"/>
                </a:solidFill>
                <a:latin typeface="Aptos"/>
              </a:defRPr>
            </a:pPr>
            <a:r>
              <a:t>Total transaction amount ÷ transaction count.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58568"/>
            <a:ext cx="5349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258568"/>
            <a:ext cx="64008" cy="96012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2404872"/>
            <a:ext cx="498347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Success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788920"/>
            <a:ext cx="4983479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0" i="0">
                <a:solidFill>
                  <a:srgbClr val="33374C"/>
                </a:solidFill>
                <a:latin typeface="Aptos"/>
              </a:defRPr>
            </a:pPr>
            <a:r>
              <a:t>Successful transactions ÷ total transactions × 100.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65576"/>
            <a:ext cx="5349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465576"/>
            <a:ext cx="64008" cy="960120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3611880"/>
            <a:ext cx="498347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Failure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3995928"/>
            <a:ext cx="4983479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0" i="0">
                <a:solidFill>
                  <a:srgbClr val="33374C"/>
                </a:solidFill>
                <a:latin typeface="Aptos"/>
              </a:defRPr>
            </a:pPr>
            <a:r>
              <a:t>Failed transactions ÷ total transactions × 100.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465576"/>
            <a:ext cx="5349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465576"/>
            <a:ext cx="64008" cy="96012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3611880"/>
            <a:ext cx="498347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Cashback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3995928"/>
            <a:ext cx="4983479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0" i="0">
                <a:solidFill>
                  <a:srgbClr val="33374C"/>
                </a:solidFill>
                <a:latin typeface="Aptos"/>
              </a:defRPr>
            </a:pPr>
            <a:r>
              <a:t>Sum of Cashback; cashback rate needs an explicitly defined denominator.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672583"/>
            <a:ext cx="5349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672583"/>
            <a:ext cx="64008" cy="960120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4818888"/>
            <a:ext cx="498347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Suspected-fraud count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" y="5202936"/>
            <a:ext cx="4983479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0" i="0">
                <a:solidFill>
                  <a:srgbClr val="33374C"/>
                </a:solidFill>
                <a:latin typeface="Aptos"/>
              </a:defRPr>
            </a:pPr>
            <a:r>
              <a:t>Count of records with Is_Suspected_Fraud = Yes.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4672583"/>
            <a:ext cx="5349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4672583"/>
            <a:ext cx="64008" cy="96012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4818888"/>
            <a:ext cx="498347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Fraud 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5202936"/>
            <a:ext cx="4983479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0" i="0">
                <a:solidFill>
                  <a:srgbClr val="33374C"/>
                </a:solidFill>
                <a:latin typeface="Aptos"/>
              </a:defRPr>
            </a:pPr>
            <a:r>
              <a:t>Flagged transactions ÷ defined transaction population × 100.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800" b="0" i="0">
                <a:solidFill>
                  <a:srgbClr val="70748B"/>
                </a:solidFill>
                <a:latin typeface="Aptos"/>
              </a:defRPr>
            </a:pPr>
            <a:r>
              <a:t>UPI TRANSACTION ANALYTICS  •  EXCEL DATA ANALYST PORTFOLIO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70748B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500" b="1" i="0">
                <a:solidFill>
                  <a:srgbClr val="171F3E"/>
                </a:solidFill>
                <a:latin typeface="Aptos Display"/>
              </a:defRPr>
            </a:pPr>
            <a:r>
              <a:t>Interactive Excel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9716A6"/>
                </a:solidFill>
                <a:latin typeface="Aptos"/>
              </a:defRPr>
            </a:pPr>
            <a:r>
              <a:t>DASHBOARD</a:t>
            </a:r>
          </a:p>
        </p:txBody>
      </p:sp>
      <p:pic>
        <p:nvPicPr>
          <p:cNvPr id="5" name="Picture 4" descr="Screenshot 2026-10-13 134535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80" y="914400"/>
            <a:ext cx="8057558" cy="5394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95360" y="1051560"/>
            <a:ext cx="2971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95360" y="1051560"/>
            <a:ext cx="64008" cy="1234440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96528" y="1197863"/>
            <a:ext cx="260604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KPI cards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6528" y="1581912"/>
            <a:ext cx="2606040" cy="5760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0" i="0">
                <a:solidFill>
                  <a:srgbClr val="33374C"/>
                </a:solidFill>
                <a:latin typeface="Aptos"/>
              </a:defRPr>
            </a:pPr>
            <a:r>
              <a:t>Transaction count, total amount, success, cashback, and suspected fraud.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2514600"/>
            <a:ext cx="2971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0" y="2514600"/>
            <a:ext cx="64008" cy="123444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96528" y="2660904"/>
            <a:ext cx="260604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Filters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3044952"/>
            <a:ext cx="2606040" cy="5760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0" i="0">
                <a:solidFill>
                  <a:srgbClr val="33374C"/>
                </a:solidFill>
                <a:latin typeface="Aptos"/>
              </a:defRPr>
            </a:pPr>
            <a:r>
              <a:t>Date, gender, app, status, state, bank, transaction type, hour, and fraud flag.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3977639"/>
            <a:ext cx="2971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0" y="3977639"/>
            <a:ext cx="64008" cy="1234440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96528" y="4123944"/>
            <a:ext cx="260604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Dashboard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4507992"/>
            <a:ext cx="2606040" cy="5760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0" i="0">
                <a:solidFill>
                  <a:srgbClr val="33374C"/>
                </a:solidFill>
                <a:latin typeface="Aptos"/>
              </a:defRPr>
            </a:pPr>
            <a:r>
              <a:t>Compare multiple dimensions from one interactive view and identify areas for deeper analysis.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800" b="0" i="0">
                <a:solidFill>
                  <a:srgbClr val="70748B"/>
                </a:solidFill>
                <a:latin typeface="Aptos"/>
              </a:defRPr>
            </a:pPr>
            <a:r>
              <a:t>UPI TRANSACTION ANALYTICS  •  EXCEL DATA ANALYST PORTFOLIO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70748B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500" b="1" i="0">
                <a:solidFill>
                  <a:srgbClr val="171F3E"/>
                </a:solidFill>
                <a:latin typeface="Aptos Display"/>
              </a:defRPr>
            </a:pPr>
            <a:r>
              <a:t>How to Read the Charts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9716A6"/>
                </a:solidFill>
                <a:latin typeface="Aptos"/>
              </a:defRPr>
            </a:pPr>
            <a:r>
              <a:t>ANALYTICAL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64008" cy="1828800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380744"/>
            <a:ext cx="31089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Trend charts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764792"/>
            <a:ext cx="3108960" cy="11704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500" b="0" i="0">
                <a:solidFill>
                  <a:srgbClr val="33374C"/>
                </a:solidFill>
                <a:latin typeface="Aptos"/>
              </a:defRPr>
            </a:pPr>
            <a:r>
              <a:t>Show how transaction amount changes over dates or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64008" cy="182880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380744"/>
            <a:ext cx="31089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Composition charts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764792"/>
            <a:ext cx="3108960" cy="11704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500" b="0" i="0">
                <a:solidFill>
                  <a:srgbClr val="33374C"/>
                </a:solidFill>
                <a:latin typeface="Aptos"/>
              </a:defRPr>
            </a:pPr>
            <a:r>
              <a:t>Show the share of activity by app, status, or fraud flag.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64008" cy="1828800"/>
          </a:xfrm>
          <a:prstGeom prst="rect">
            <a:avLst/>
          </a:prstGeom>
          <a:solidFill>
            <a:srgbClr val="B72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380744"/>
            <a:ext cx="31089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B723AB"/>
                </a:solidFill>
                <a:latin typeface="Aptos"/>
              </a:defRPr>
            </a:pPr>
            <a:r>
              <a:t>Comparison charts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764792"/>
            <a:ext cx="3108960" cy="11704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500" b="0" i="0">
                <a:solidFill>
                  <a:srgbClr val="33374C"/>
                </a:solidFill>
                <a:latin typeface="Aptos"/>
              </a:defRPr>
            </a:pPr>
            <a:r>
              <a:t>Rank states, banks, and transaction types by amount.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49039"/>
            <a:ext cx="1033272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800" b="1" i="0">
                <a:solidFill>
                  <a:srgbClr val="171F3E"/>
                </a:solidFill>
                <a:latin typeface="Aptos"/>
              </a:defRPr>
            </a:pPr>
            <a:r>
              <a:t>Good analytical 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10149840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33374C"/>
                </a:solidFill>
                <a:latin typeface="Aptos"/>
              </a:defRPr>
            </a:pPr>
            <a:r>
              <a:t>•  Use the chart to identify a pattern, then verify exact values in the source data.</a:t>
            </a:r>
          </a:p>
          <a:p>
            <a:pPr>
              <a:spcAft>
                <a:spcPts val="900"/>
              </a:spcAft>
              <a:defRPr sz="1400">
                <a:solidFill>
                  <a:srgbClr val="33374C"/>
                </a:solidFill>
                <a:latin typeface="Aptos"/>
              </a:defRPr>
            </a:pPr>
            <a:r>
              <a:t>•  Separate transaction count from transaction value.</a:t>
            </a:r>
          </a:p>
          <a:p>
            <a:pPr>
              <a:spcAft>
                <a:spcPts val="900"/>
              </a:spcAft>
              <a:defRPr sz="1400">
                <a:solidFill>
                  <a:srgbClr val="33374C"/>
                </a:solidFill>
                <a:latin typeface="Aptos"/>
              </a:defRPr>
            </a:pPr>
            <a:r>
              <a:t>•  Avoid claiming causes or confirmed fraud from a visual pattern alone.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800" b="0" i="0">
                <a:solidFill>
                  <a:srgbClr val="70748B"/>
                </a:solidFill>
                <a:latin typeface="Aptos"/>
              </a:defRPr>
            </a:pPr>
            <a:r>
              <a:t>UPI TRANSACTION ANALYTICS  •  EXCEL DATA ANALYST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70748B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500" b="1" i="0">
                <a:solidFill>
                  <a:srgbClr val="171F3E"/>
                </a:solidFill>
                <a:latin typeface="Aptos Display"/>
              </a:defRPr>
            </a:pPr>
            <a:r>
              <a:t>Dashboard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9716A6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700" b="0" i="0">
                <a:solidFill>
                  <a:srgbClr val="33374C"/>
                </a:solidFill>
                <a:latin typeface="Aptos"/>
              </a:defRPr>
            </a:pPr>
            <a:r>
              <a:t>The dashboard combines summary KPIs, interactive filters, and nine analytical chart views.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64008" cy="1828800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37944"/>
            <a:ext cx="31089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21992"/>
            <a:ext cx="3108960" cy="11704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0" i="0">
                <a:solidFill>
                  <a:srgbClr val="33374C"/>
                </a:solidFill>
                <a:latin typeface="Aptos"/>
              </a:defRPr>
            </a:pPr>
            <a:r>
              <a:t>Total transactions, amount, average amount, success, failure, and cashback.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64008" cy="182880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37944"/>
            <a:ext cx="31089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Segmentation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21992"/>
            <a:ext cx="3108960" cy="11704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0" i="0">
                <a:solidFill>
                  <a:srgbClr val="33374C"/>
                </a:solidFill>
                <a:latin typeface="Aptos"/>
              </a:defRPr>
            </a:pPr>
            <a:r>
              <a:t>UPI app, status, state, bank, and transaction type.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916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691640"/>
            <a:ext cx="64008" cy="1828800"/>
          </a:xfrm>
          <a:prstGeom prst="rect">
            <a:avLst/>
          </a:prstGeom>
          <a:solidFill>
            <a:srgbClr val="B72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837944"/>
            <a:ext cx="31089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B723AB"/>
                </a:solidFill>
                <a:latin typeface="Aptos"/>
              </a:defRPr>
            </a:pPr>
            <a:r>
              <a:t>Timing &amp;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221992"/>
            <a:ext cx="3108960" cy="11704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0" i="0">
                <a:solidFill>
                  <a:srgbClr val="33374C"/>
                </a:solidFill>
                <a:latin typeface="Aptos"/>
              </a:defRPr>
            </a:pPr>
            <a:r>
              <a:t>Daily trend, hourly pattern, day-hour heatmap, and suspected-fraud split.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60520"/>
            <a:ext cx="10332720" cy="6858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500" b="0" i="0">
                <a:solidFill>
                  <a:srgbClr val="33374C"/>
                </a:solidFill>
                <a:latin typeface="Aptos"/>
              </a:defRPr>
            </a:pPr>
            <a:r>
              <a:t>Use slicers to narrow the analysis, then compare the affected KPI cards and charts. When presenting results, state the active filter context so the audience understands what the figures represent.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800" b="0" i="0">
                <a:solidFill>
                  <a:srgbClr val="70748B"/>
                </a:solidFill>
                <a:latin typeface="Aptos"/>
              </a:defRPr>
            </a:pPr>
            <a:r>
              <a:t>UPI TRANSACTION ANALYTICS  •  EXCEL DATA ANALYST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70748B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500" b="1" i="0">
                <a:solidFill>
                  <a:srgbClr val="171F3E"/>
                </a:solidFill>
                <a:latin typeface="Aptos Display"/>
              </a:defRPr>
            </a:pPr>
            <a:r>
              <a:t>Daily Transaction Amount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9716A6"/>
                </a:solidFill>
                <a:latin typeface="Aptos"/>
              </a:defRPr>
            </a:pPr>
            <a:r>
              <a:t>CHART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24128"/>
            <a:ext cx="672084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E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10-13 2005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420401"/>
            <a:ext cx="6473952" cy="308450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024128"/>
            <a:ext cx="43891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024128"/>
            <a:ext cx="64008" cy="804672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2088" y="1170432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Business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2088" y="1554480"/>
            <a:ext cx="4023359" cy="14630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How does transaction value vary from day to day?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938528"/>
            <a:ext cx="4389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1938528"/>
            <a:ext cx="64008" cy="114300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2084832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What the chart shows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2468880"/>
            <a:ext cx="4023359" cy="4846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The daily amount fluctuates across the month, with a visible peak early in the period and lower values on several later dates. Use the workbook to verify the exact peak and trough dates.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3200400"/>
            <a:ext cx="4389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3200400"/>
            <a:ext cx="64008" cy="960120"/>
          </a:xfrm>
          <a:prstGeom prst="rect">
            <a:avLst/>
          </a:prstGeom>
          <a:solidFill>
            <a:srgbClr val="B72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2088" y="3346704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B723AB"/>
                </a:solidFill>
                <a:latin typeface="Aptos"/>
              </a:defRPr>
            </a:pPr>
            <a:r>
              <a:t>Business 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3730752"/>
            <a:ext cx="4023359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Daily monitoring can highlight unusual changes, but the chart alone does not explain why they occurred.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4270248"/>
            <a:ext cx="4389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4270248"/>
            <a:ext cx="64008" cy="960120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4416552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Recommended follow-up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4800600"/>
            <a:ext cx="4023359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Compare daily transaction count, average transaction value, and status mix on peak and low days.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66360"/>
            <a:ext cx="11247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166360"/>
            <a:ext cx="64008" cy="91440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312664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Presenter 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5696712"/>
            <a:ext cx="1088136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0" i="0">
                <a:solidFill>
                  <a:srgbClr val="33374C"/>
                </a:solidFill>
                <a:latin typeface="Aptos"/>
              </a:defRPr>
            </a:pPr>
            <a:r>
              <a:t>This chart shows daily transaction amount. I would investigate the highest and lowest days and compare them with transaction volume and payment outcomes before explaining the changes.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800" b="0" i="0">
                <a:solidFill>
                  <a:srgbClr val="70748B"/>
                </a:solidFill>
                <a:latin typeface="Aptos"/>
              </a:defRPr>
            </a:pPr>
            <a:r>
              <a:t>UPI TRANSACTION ANALYTICS  •  EXCEL DATA ANALYST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70748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500" b="1" i="0">
                <a:solidFill>
                  <a:srgbClr val="171F3E"/>
                </a:solidFill>
                <a:latin typeface="Aptos Display"/>
              </a:defRPr>
            </a:pPr>
            <a:r>
              <a:t>Transactions by UPI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9716A6"/>
                </a:solidFill>
                <a:latin typeface="Aptos"/>
              </a:defRPr>
            </a:pPr>
            <a:r>
              <a:t>CHART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24128"/>
            <a:ext cx="672084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E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10-13 200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141" y="1143000"/>
            <a:ext cx="5424373" cy="36393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024128"/>
            <a:ext cx="43891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024128"/>
            <a:ext cx="64008" cy="804672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2088" y="1170432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Business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2088" y="1554480"/>
            <a:ext cx="4023359" cy="14630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Which UPI applications account for the largest share of transactions?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938528"/>
            <a:ext cx="4389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1938528"/>
            <a:ext cx="64008" cy="114300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2084832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What the chart shows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2468880"/>
            <a:ext cx="4023359" cy="4846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PhonePe is the largest displayed segment at about 50%, followed by Amazon Pay at about 21% and BHIM at about 14%. Smaller app shares are shown in the chart.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3200400"/>
            <a:ext cx="4389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3200400"/>
            <a:ext cx="64008" cy="960120"/>
          </a:xfrm>
          <a:prstGeom prst="rect">
            <a:avLst/>
          </a:prstGeom>
          <a:solidFill>
            <a:srgbClr val="B72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2088" y="3346704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B723AB"/>
                </a:solidFill>
                <a:latin typeface="Aptos"/>
              </a:defRPr>
            </a:pPr>
            <a:r>
              <a:t>Business 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3730752"/>
            <a:ext cx="4023359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The distribution indicates where activity is concentrated. A larger share does not automatically mean better service quality.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4270248"/>
            <a:ext cx="4389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4270248"/>
            <a:ext cx="64008" cy="960120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4416552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Recommended follow-up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4800600"/>
            <a:ext cx="4023359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Compare app-wise transaction count, success rate, failure rate, average amount, and suspected-fraud rate.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66360"/>
            <a:ext cx="11247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166360"/>
            <a:ext cx="64008" cy="91440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312664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Presenter 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5696712"/>
            <a:ext cx="1088136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0" i="0">
                <a:solidFill>
                  <a:srgbClr val="33374C"/>
                </a:solidFill>
                <a:latin typeface="Aptos"/>
              </a:defRPr>
            </a:pPr>
            <a:r>
              <a:t>The app chart shows that transaction activity is concentrated in a few applications. To assess performance, I would also compare each app's success and failure rates.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800" b="0" i="0">
                <a:solidFill>
                  <a:srgbClr val="70748B"/>
                </a:solidFill>
                <a:latin typeface="Aptos"/>
              </a:defRPr>
            </a:pPr>
            <a:r>
              <a:t>UPI TRANSACTION ANALYTICS  •  EXCEL DATA ANALYST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70748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500" b="1" i="0">
                <a:solidFill>
                  <a:srgbClr val="171F3E"/>
                </a:solidFill>
                <a:latin typeface="Aptos Display"/>
              </a:defRPr>
            </a:pPr>
            <a:r>
              <a:t>Transactions by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9716A6"/>
                </a:solidFill>
                <a:latin typeface="Aptos"/>
              </a:defRPr>
            </a:pPr>
            <a:r>
              <a:t>CHART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24128"/>
            <a:ext cx="672084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E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10-13 2006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284" y="1143000"/>
            <a:ext cx="5602087" cy="36393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024128"/>
            <a:ext cx="43891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024128"/>
            <a:ext cx="64008" cy="804672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2088" y="1170432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Business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2088" y="1554480"/>
            <a:ext cx="4023359" cy="14630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What proportion of transactions succeed or require follow-up?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938528"/>
            <a:ext cx="4389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1938528"/>
            <a:ext cx="64008" cy="114300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2084832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What the chart shows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2468880"/>
            <a:ext cx="4023359" cy="4846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The displayed status chart reports approximately 91% Success, 7% Failed, 2% Pending, and 0% Refunded after rounding.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3200400"/>
            <a:ext cx="4389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3200400"/>
            <a:ext cx="64008" cy="960120"/>
          </a:xfrm>
          <a:prstGeom prst="rect">
            <a:avLst/>
          </a:prstGeom>
          <a:solidFill>
            <a:srgbClr val="B72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2088" y="3346704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B723AB"/>
                </a:solidFill>
                <a:latin typeface="Aptos"/>
              </a:defRPr>
            </a:pPr>
            <a:r>
              <a:t>Business 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3730752"/>
            <a:ext cx="4023359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The non-success portion represents an opportunity to examine failed and unresolved transactions. Rounded labels may not add up precisely.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4270248"/>
            <a:ext cx="4389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4270248"/>
            <a:ext cx="64008" cy="960120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4416552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Recommended follow-up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4800600"/>
            <a:ext cx="4023359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Break down failures by bank, app, hour, and failure reason; review pending transactions separately.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66360"/>
            <a:ext cx="11247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166360"/>
            <a:ext cx="64008" cy="91440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312664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Presenter 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5696712"/>
            <a:ext cx="1088136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0" i="0">
                <a:solidFill>
                  <a:srgbClr val="33374C"/>
                </a:solidFill>
                <a:latin typeface="Aptos"/>
              </a:defRPr>
            </a:pPr>
            <a:r>
              <a:t>The chart indicates a 91% success rate, while failed and pending transactions need further analysis. I would use the failure-reason field to look for actionable patterns.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800" b="0" i="0">
                <a:solidFill>
                  <a:srgbClr val="70748B"/>
                </a:solidFill>
                <a:latin typeface="Aptos"/>
              </a:defRPr>
            </a:pPr>
            <a:r>
              <a:t>UPI TRANSACTION ANALYTICS  •  EXCEL DATA ANALYST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70748B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500" b="1" i="0">
                <a:solidFill>
                  <a:srgbClr val="171F3E"/>
                </a:solidFill>
                <a:latin typeface="Aptos Display"/>
              </a:defRPr>
            </a:pPr>
            <a:r>
              <a:t>Transaction Amount by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9716A6"/>
                </a:solidFill>
                <a:latin typeface="Aptos"/>
              </a:defRPr>
            </a:pPr>
            <a:r>
              <a:t>CHART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24128"/>
            <a:ext cx="672084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E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10-13 2006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413488"/>
            <a:ext cx="6473952" cy="309833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024128"/>
            <a:ext cx="43891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024128"/>
            <a:ext cx="64008" cy="804672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2088" y="1170432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Business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2088" y="1554480"/>
            <a:ext cx="4023359" cy="14630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Which states contribute the most transaction value?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938528"/>
            <a:ext cx="4389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1938528"/>
            <a:ext cx="64008" cy="114300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2084832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What the chart shows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2468880"/>
            <a:ext cx="4023359" cy="4846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The dashboard ranks Maharashtra at about ₹4.54 Cr, Karnataka ₹4.51 Cr, Delhi ₹4.48 Cr, Rajasthan ₹4.42 Cr, and Uttar Pradesh ₹4.41 Cr among the displayed leading states.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3200400"/>
            <a:ext cx="4389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3200400"/>
            <a:ext cx="64008" cy="960120"/>
          </a:xfrm>
          <a:prstGeom prst="rect">
            <a:avLst/>
          </a:prstGeom>
          <a:solidFill>
            <a:srgbClr val="B72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2088" y="3346704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B723AB"/>
                </a:solidFill>
                <a:latin typeface="Aptos"/>
              </a:defRPr>
            </a:pPr>
            <a:r>
              <a:t>Business 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3730752"/>
            <a:ext cx="4023359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The map and ranking show geographic distribution of transaction value, not necessarily customer count or transaction frequency.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4270248"/>
            <a:ext cx="4389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4270248"/>
            <a:ext cx="64008" cy="960120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4416552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Recommended follow-up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4800600"/>
            <a:ext cx="4023359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Compare state-wise transaction count, average transaction value, success rate, and suspected-fraud rate.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66360"/>
            <a:ext cx="11247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166360"/>
            <a:ext cx="64008" cy="91440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312664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Presenter 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5696712"/>
            <a:ext cx="1088136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0" i="0">
                <a:solidFill>
                  <a:srgbClr val="33374C"/>
                </a:solidFill>
                <a:latin typeface="Aptos"/>
              </a:defRPr>
            </a:pPr>
            <a:r>
              <a:t>This view compares transaction amount across states. Maharashtra and Karnataka appear near the top in the displayed ranking, and I would compare these totals with transaction counts.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800" b="0" i="0">
                <a:solidFill>
                  <a:srgbClr val="70748B"/>
                </a:solidFill>
                <a:latin typeface="Aptos"/>
              </a:defRPr>
            </a:pPr>
            <a:r>
              <a:t>UPI TRANSACTION ANALYTICS  •  EXCEL DATA ANALYST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70748B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500" b="1" i="0">
                <a:solidFill>
                  <a:srgbClr val="171F3E"/>
                </a:solidFill>
                <a:latin typeface="Aptos Display"/>
              </a:defRPr>
            </a:pPr>
            <a:r>
              <a:t>Transaction Amount by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9716A6"/>
                </a:solidFill>
                <a:latin typeface="Aptos"/>
              </a:defRPr>
            </a:pPr>
            <a:r>
              <a:t>CHART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24128"/>
            <a:ext cx="672084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E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10-13 2006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" y="1143000"/>
            <a:ext cx="5458968" cy="36393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024128"/>
            <a:ext cx="43891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024128"/>
            <a:ext cx="64008" cy="804672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2088" y="1170432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Business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2088" y="1554480"/>
            <a:ext cx="4023359" cy="14630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How is transaction value distributed across banks?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938528"/>
            <a:ext cx="4389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1938528"/>
            <a:ext cx="64008" cy="114300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2084832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What the chart shows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2468880"/>
            <a:ext cx="4023359" cy="4846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HDFC Bank and SBI lead the displayed ranking at approximately ₹5.89 Cr and ₹5.84 Cr. Other banks shown include Kotak Mahindra Bank, Canara Bank, ICICI Bank, Axis Bank, Bank of Baroda, and Punjab National Bank.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3200400"/>
            <a:ext cx="4389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3200400"/>
            <a:ext cx="64008" cy="960120"/>
          </a:xfrm>
          <a:prstGeom prst="rect">
            <a:avLst/>
          </a:prstGeom>
          <a:solidFill>
            <a:srgbClr val="B72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2088" y="3346704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B723AB"/>
                </a:solidFill>
                <a:latin typeface="Aptos"/>
              </a:defRPr>
            </a:pPr>
            <a:r>
              <a:t>Business 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3730752"/>
            <a:ext cx="4023359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High transaction value reflects activity or ticket size; it does not by itself measure reliability or customer experience.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4270248"/>
            <a:ext cx="4389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4270248"/>
            <a:ext cx="64008" cy="960120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4416552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Recommended follow-up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4800600"/>
            <a:ext cx="4023359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Compare each bank's transaction volume, success rate, failure reasons, and suspected-fraud rate.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66360"/>
            <a:ext cx="11247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166360"/>
            <a:ext cx="64008" cy="91440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312664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Presenter 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5696712"/>
            <a:ext cx="1088136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0" i="0">
                <a:solidFill>
                  <a:srgbClr val="33374C"/>
                </a:solidFill>
                <a:latin typeface="Aptos"/>
              </a:defRPr>
            </a:pPr>
            <a:r>
              <a:t>This chart ranks banks by transaction value. I would combine it with status metrics so that the analysis evaluates both volume and payment reliability.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800" b="0" i="0">
                <a:solidFill>
                  <a:srgbClr val="70748B"/>
                </a:solidFill>
                <a:latin typeface="Aptos"/>
              </a:defRPr>
            </a:pPr>
            <a:r>
              <a:t>UPI TRANSACTION ANALYTICS  •  EXCEL DATA ANALYST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70748B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500" b="1" i="0">
                <a:solidFill>
                  <a:srgbClr val="171F3E"/>
                </a:solidFill>
                <a:latin typeface="Aptos Display"/>
              </a:defRPr>
            </a:pPr>
            <a:r>
              <a:t>Transaction Amount by Transaction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9716A6"/>
                </a:solidFill>
                <a:latin typeface="Aptos"/>
              </a:defRPr>
            </a:pPr>
            <a:r>
              <a:t>CHART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24128"/>
            <a:ext cx="672084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E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10-13 2006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864" y="1143000"/>
            <a:ext cx="5716926" cy="36393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024128"/>
            <a:ext cx="43891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024128"/>
            <a:ext cx="64008" cy="804672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2088" y="1170432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Business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2088" y="1554480"/>
            <a:ext cx="4023359" cy="14630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Which payment use cases contribute the most transaction value?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938528"/>
            <a:ext cx="4389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1938528"/>
            <a:ext cx="64008" cy="114300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2084832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What the chart shows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2468880"/>
            <a:ext cx="4023359" cy="4846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P2M is the largest displayed category at approximately ₹18.88 Cr, followed by P2P at ₹8.77 Cr and Bill Payment at ₹6.17 Cr. Other displayed categories include online shopping, recharge, subscription, and wallet transfer.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3200400"/>
            <a:ext cx="4389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3200400"/>
            <a:ext cx="64008" cy="960120"/>
          </a:xfrm>
          <a:prstGeom prst="rect">
            <a:avLst/>
          </a:prstGeom>
          <a:solidFill>
            <a:srgbClr val="B72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2088" y="3346704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B723AB"/>
                </a:solidFill>
                <a:latin typeface="Aptos"/>
              </a:defRPr>
            </a:pPr>
            <a:r>
              <a:t>Business 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3730752"/>
            <a:ext cx="4023359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Different use cases can have different transaction sizes and frequencies, so amount and count should be evaluated separately.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4270248"/>
            <a:ext cx="4389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4270248"/>
            <a:ext cx="64008" cy="960120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4416552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Recommended follow-up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4800600"/>
            <a:ext cx="4023359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Compare transaction count, average transaction value, and status/fraud rates by transaction type.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66360"/>
            <a:ext cx="11247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166360"/>
            <a:ext cx="64008" cy="91440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312664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Presenter 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5696712"/>
            <a:ext cx="1088136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0" i="0">
                <a:solidFill>
                  <a:srgbClr val="33374C"/>
                </a:solidFill>
                <a:latin typeface="Aptos"/>
              </a:defRPr>
            </a:pPr>
            <a:r>
              <a:t>P2M contributes the largest displayed transaction amount. I would next check whether this is driven by more transactions, larger average amounts, or both.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800" b="0" i="0">
                <a:solidFill>
                  <a:srgbClr val="70748B"/>
                </a:solidFill>
                <a:latin typeface="Aptos"/>
              </a:defRPr>
            </a:pPr>
            <a:r>
              <a:t>UPI TRANSACTION ANALYTICS  •  EXCEL DATA ANALYST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70748B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500" b="1" i="0">
                <a:solidFill>
                  <a:srgbClr val="171F3E"/>
                </a:solidFill>
                <a:latin typeface="Aptos Display"/>
              </a:defRPr>
            </a:pPr>
            <a:r>
              <a:t>Transaction Amount by Hour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9716A6"/>
                </a:solidFill>
                <a:latin typeface="Aptos"/>
              </a:defRPr>
            </a:pPr>
            <a:r>
              <a:t>CHART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24128"/>
            <a:ext cx="672084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E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10-13 2007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87949"/>
            <a:ext cx="6473952" cy="33494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024128"/>
            <a:ext cx="43891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024128"/>
            <a:ext cx="64008" cy="804672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2088" y="1170432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Business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2088" y="1554480"/>
            <a:ext cx="4023359" cy="14630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At what times of day is transaction value highest?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938528"/>
            <a:ext cx="4389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1938528"/>
            <a:ext cx="64008" cy="114300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2084832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What the chart shows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2468880"/>
            <a:ext cx="4023359" cy="4846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The displayed hourly pattern rises through the morning and afternoon and peaks in the evening, with the highest bars around 18:00–19:00. Confirm the exact peak hour from the source workbook.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3200400"/>
            <a:ext cx="4389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3200400"/>
            <a:ext cx="64008" cy="960120"/>
          </a:xfrm>
          <a:prstGeom prst="rect">
            <a:avLst/>
          </a:prstGeom>
          <a:solidFill>
            <a:srgbClr val="B72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2088" y="3346704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B723AB"/>
                </a:solidFill>
                <a:latin typeface="Aptos"/>
              </a:defRPr>
            </a:pPr>
            <a:r>
              <a:t>Business 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3730752"/>
            <a:ext cx="4023359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Time-of-day patterns can support monitoring and staffing decisions, but should be validated across multiple dates.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4270248"/>
            <a:ext cx="4389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4270248"/>
            <a:ext cx="64008" cy="960120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4416552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Recommended follow-up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4800600"/>
            <a:ext cx="4023359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Compare hourly transaction count, failure rate, and suspected-fraud rate; assess weekday versus weekend patterns.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66360"/>
            <a:ext cx="11247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166360"/>
            <a:ext cx="64008" cy="91440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312664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Presenter 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5696712"/>
            <a:ext cx="1088136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0" i="0">
                <a:solidFill>
                  <a:srgbClr val="33374C"/>
                </a:solidFill>
                <a:latin typeface="Aptos"/>
              </a:defRPr>
            </a:pPr>
            <a:r>
              <a:t>The hourly chart suggests stronger transaction value in the evening. I would validate the peak hour and check whether failures or flagged transactions also rise during that period.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800" b="0" i="0">
                <a:solidFill>
                  <a:srgbClr val="70748B"/>
                </a:solidFill>
                <a:latin typeface="Aptos"/>
              </a:defRPr>
            </a:pPr>
            <a:r>
              <a:t>UPI TRANSACTION ANALYTICS  •  EXCEL DATA ANALYST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70748B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500" b="1" i="0">
                <a:solidFill>
                  <a:srgbClr val="171F3E"/>
                </a:solidFill>
                <a:latin typeface="Aptos Display"/>
              </a:defRPr>
            </a:pPr>
            <a:r>
              <a:t>Transaction Amount by Day and Hour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9716A6"/>
                </a:solidFill>
                <a:latin typeface="Aptos"/>
              </a:defRPr>
            </a:pPr>
            <a:r>
              <a:t>CHART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24128"/>
            <a:ext cx="672084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E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10-13 2007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193999"/>
            <a:ext cx="6473952" cy="353731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024128"/>
            <a:ext cx="43891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024128"/>
            <a:ext cx="64008" cy="804672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2088" y="1170432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Business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2088" y="1554480"/>
            <a:ext cx="4023359" cy="14630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How does transaction activity vary by weekday and hour?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938528"/>
            <a:ext cx="4389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1938528"/>
            <a:ext cx="64008" cy="114300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2084832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What the chart shows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2468880"/>
            <a:ext cx="4023359" cy="4846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The heatmap shows relatively low activity in early hours and stronger activity in later daytime and evening periods. Darker cells indicate higher values according to the displayed color scale.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3200400"/>
            <a:ext cx="4389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3200400"/>
            <a:ext cx="64008" cy="960120"/>
          </a:xfrm>
          <a:prstGeom prst="rect">
            <a:avLst/>
          </a:prstGeom>
          <a:solidFill>
            <a:srgbClr val="B72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2088" y="3346704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B723AB"/>
                </a:solidFill>
                <a:latin typeface="Aptos"/>
              </a:defRPr>
            </a:pPr>
            <a:r>
              <a:t>Business 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3730752"/>
            <a:ext cx="4023359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A heatmap helps spot recurring time windows that can be missed in a single hourly average.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4270248"/>
            <a:ext cx="4389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4270248"/>
            <a:ext cx="64008" cy="960120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4416552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Recommended follow-up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4800600"/>
            <a:ext cx="4023359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Validate the aggregation used in each cell and compare weekdays with weekends using transaction count as well as amount.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66360"/>
            <a:ext cx="11247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166360"/>
            <a:ext cx="64008" cy="91440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312664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Presenter 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5696712"/>
            <a:ext cx="1088136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0" i="0">
                <a:solidFill>
                  <a:srgbClr val="33374C"/>
                </a:solidFill>
                <a:latin typeface="Aptos"/>
              </a:defRPr>
            </a:pPr>
            <a:r>
              <a:t>This heatmap combines day of week and hour. It helps identify time windows with relatively higher activity, which I would validate with exact aggregated values.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800" b="0" i="0">
                <a:solidFill>
                  <a:srgbClr val="70748B"/>
                </a:solidFill>
                <a:latin typeface="Aptos"/>
              </a:defRPr>
            </a:pPr>
            <a:r>
              <a:t>UPI TRANSACTION ANALYTICS  •  EXCEL DATA ANALYST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70748B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500" b="1" i="0">
                <a:solidFill>
                  <a:srgbClr val="171F3E"/>
                </a:solidFill>
                <a:latin typeface="Aptos Display"/>
              </a:defRPr>
            </a:pPr>
            <a:r>
              <a:t>Suspected Fraud vs. Non-Fraud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9716A6"/>
                </a:solidFill>
                <a:latin typeface="Aptos"/>
              </a:defRPr>
            </a:pPr>
            <a:r>
              <a:t>CHART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24128"/>
            <a:ext cx="672084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E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10-13 2007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504" y="1143000"/>
            <a:ext cx="4713647" cy="36393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024128"/>
            <a:ext cx="43891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024128"/>
            <a:ext cx="64008" cy="804672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2088" y="1170432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Business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2088" y="1554480"/>
            <a:ext cx="4023359" cy="14630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How many transactions are flagged for potential fraud?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938528"/>
            <a:ext cx="4389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1938528"/>
            <a:ext cx="64008" cy="114300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2084832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What the chart shows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2468880"/>
            <a:ext cx="4023359" cy="4846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The displayed distribution is approximately 97% not flagged and 3% flagged. The dashboard KPI shows 17,089 suspected-fraud transactions; the exact rate should be reconciled against the full dataset.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3200400"/>
            <a:ext cx="4389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3200400"/>
            <a:ext cx="64008" cy="960120"/>
          </a:xfrm>
          <a:prstGeom prst="rect">
            <a:avLst/>
          </a:prstGeom>
          <a:solidFill>
            <a:srgbClr val="B72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2088" y="3346704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B723AB"/>
                </a:solidFill>
                <a:latin typeface="Aptos"/>
              </a:defRPr>
            </a:pPr>
            <a:r>
              <a:t>Business 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3730752"/>
            <a:ext cx="4023359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A suspected-fraud flag is a risk indicator, not proof that fraud occurred. Rate calculations depend on the denominator and filter context.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4270248"/>
            <a:ext cx="4389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4270248"/>
            <a:ext cx="64008" cy="960120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4416552"/>
            <a:ext cx="40233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Recommended follow-up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4800600"/>
            <a:ext cx="4023359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Validate the fraud flag and denominator, then segment flagged transactions by amount, hour, bank, app, state, and transaction type.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66360"/>
            <a:ext cx="11247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166360"/>
            <a:ext cx="64008" cy="91440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312664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Presenter 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5696712"/>
            <a:ext cx="1088136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0" i="0">
                <a:solidFill>
                  <a:srgbClr val="33374C"/>
                </a:solidFill>
                <a:latin typeface="Aptos"/>
              </a:defRPr>
            </a:pPr>
            <a:r>
              <a:t>The chart shows a small flagged share compared with the non-flagged group. I would prioritize investigation and measure confirmed outcomes rather than treating every flag as confirmed fraud.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800" b="0" i="0">
                <a:solidFill>
                  <a:srgbClr val="70748B"/>
                </a:solidFill>
                <a:latin typeface="Aptos"/>
              </a:defRPr>
            </a:pPr>
            <a:r>
              <a:t>UPI TRANSACTION ANALYTICS  •  EXCEL DATA ANALYST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70748B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500" b="1" i="0">
                <a:solidFill>
                  <a:srgbClr val="171F3E"/>
                </a:solidFill>
                <a:latin typeface="Aptos Display"/>
              </a:defRPr>
            </a:pPr>
            <a:r>
              <a:t>Key Findings from the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9716A6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64008" cy="1234440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289304"/>
            <a:ext cx="498347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Payment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673352"/>
            <a:ext cx="4983479" cy="5760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300" b="0" i="0">
                <a:solidFill>
                  <a:srgbClr val="33374C"/>
                </a:solidFill>
                <a:latin typeface="Aptos"/>
              </a:defRPr>
            </a:pPr>
            <a:r>
              <a:t>The dashboard reports 91% success and 7% failure, with small pending/refunded shares shown after rounding.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4300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64008" cy="123444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289304"/>
            <a:ext cx="498347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App 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673352"/>
            <a:ext cx="4983479" cy="5760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300" b="0" i="0">
                <a:solidFill>
                  <a:srgbClr val="33374C"/>
                </a:solidFill>
                <a:latin typeface="Aptos"/>
              </a:defRPr>
            </a:pPr>
            <a:r>
              <a:t>PhonePe is the largest displayed app segment at about 50%; app share should be assessed alongside reliability metrics.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5176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651760"/>
            <a:ext cx="64008" cy="1234440"/>
          </a:xfrm>
          <a:prstGeom prst="rect">
            <a:avLst/>
          </a:prstGeom>
          <a:solidFill>
            <a:srgbClr val="B72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798064"/>
            <a:ext cx="498347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B723AB"/>
                </a:solidFill>
                <a:latin typeface="Aptos"/>
              </a:defRPr>
            </a:pPr>
            <a:r>
              <a:t>Transaction use 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182112"/>
            <a:ext cx="4983479" cy="5760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300" b="0" i="0">
                <a:solidFill>
                  <a:srgbClr val="33374C"/>
                </a:solidFill>
                <a:latin typeface="Aptos"/>
              </a:defRPr>
            </a:pPr>
            <a:r>
              <a:t>P2M is the largest displayed transaction-type amount at about ₹18.88 Cr; compare count and average value to understand the driver.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65176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651760"/>
            <a:ext cx="64008" cy="1234440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798064"/>
            <a:ext cx="498347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Time pattern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182112"/>
            <a:ext cx="4983479" cy="5760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300" b="0" i="0">
                <a:solidFill>
                  <a:srgbClr val="33374C"/>
                </a:solidFill>
                <a:latin typeface="Aptos"/>
              </a:defRPr>
            </a:pPr>
            <a:r>
              <a:t>Hourly and heatmap views suggest stronger activity later in the day; verify exact peaks from the workbook.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160520"/>
            <a:ext cx="10927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160520"/>
            <a:ext cx="64008" cy="114300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4306824"/>
            <a:ext cx="1056131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Risk interpretation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690872"/>
            <a:ext cx="10561319" cy="4846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300" b="0" i="0">
                <a:solidFill>
                  <a:srgbClr val="33374C"/>
                </a:solidFill>
                <a:latin typeface="Aptos"/>
              </a:defRPr>
            </a:pPr>
            <a:r>
              <a:t>The dashboard shows 17,089 suspected-fraud records and approximately 3% flagged in the distribution chart. Reconcile the KPI and denominator before reporting a precise rate.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800" b="0" i="0">
                <a:solidFill>
                  <a:srgbClr val="70748B"/>
                </a:solidFill>
                <a:latin typeface="Aptos"/>
              </a:defRPr>
            </a:pPr>
            <a:r>
              <a:t>UPI TRANSACTION ANALYTICS  •  EXCEL DATA ANALYST PORTFOLIO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70748B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500" b="1" i="0">
                <a:solidFill>
                  <a:srgbClr val="171F3E"/>
                </a:solidFill>
                <a:latin typeface="Aptos Display"/>
              </a:defRPr>
            </a:pPr>
            <a:r>
              <a:t>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9716A6"/>
                </a:solidFill>
                <a:latin typeface="Aptos"/>
              </a:defRPr>
            </a:pPr>
            <a:r>
              <a:t>ACTION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10789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64008" cy="74980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197863"/>
            <a:ext cx="104241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1. Monitor failures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581912"/>
            <a:ext cx="10424160" cy="91439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00" b="0" i="0">
                <a:solidFill>
                  <a:srgbClr val="33374C"/>
                </a:solidFill>
                <a:latin typeface="Aptos"/>
              </a:defRPr>
            </a:pPr>
            <a:r>
              <a:t>Track failed transactions by app, bank, hour, and Failure_Reason.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10789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64008" cy="749808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157984"/>
            <a:ext cx="104241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2. Review risk flags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42032"/>
            <a:ext cx="10424160" cy="91439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00" b="0" i="0">
                <a:solidFill>
                  <a:srgbClr val="33374C"/>
                </a:solidFill>
                <a:latin typeface="Aptos"/>
              </a:defRPr>
            </a:pPr>
            <a:r>
              <a:t>Prioritize suspected-fraud records for review and track confirmed outcomes.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71800"/>
            <a:ext cx="10789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971800"/>
            <a:ext cx="64008" cy="749808"/>
          </a:xfrm>
          <a:prstGeom prst="rect">
            <a:avLst/>
          </a:prstGeom>
          <a:solidFill>
            <a:srgbClr val="B72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118104"/>
            <a:ext cx="104241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B723AB"/>
                </a:solidFill>
                <a:latin typeface="Aptos"/>
              </a:defRPr>
            </a:pPr>
            <a:r>
              <a:t>3. Compare value and volume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502152"/>
            <a:ext cx="10424160" cy="91439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00" b="0" i="0">
                <a:solidFill>
                  <a:srgbClr val="33374C"/>
                </a:solidFill>
                <a:latin typeface="Aptos"/>
              </a:defRPr>
            </a:pPr>
            <a:r>
              <a:t>Report both transaction count and amount for states, banks, apps, and transaction types.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10789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931920"/>
            <a:ext cx="64008" cy="74980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78224"/>
            <a:ext cx="104241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4. Monitor time windows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462272"/>
            <a:ext cx="10424160" cy="91439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00" b="0" i="0">
                <a:solidFill>
                  <a:srgbClr val="33374C"/>
                </a:solidFill>
                <a:latin typeface="Aptos"/>
              </a:defRPr>
            </a:pPr>
            <a:r>
              <a:t>Validate recurring peak hours and compare weekdays with weekends.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92040"/>
            <a:ext cx="10789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892040"/>
            <a:ext cx="64008" cy="749808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5038344"/>
            <a:ext cx="104241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5. Standardize KPI 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5422392"/>
            <a:ext cx="10424160" cy="91439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00" b="0" i="0">
                <a:solidFill>
                  <a:srgbClr val="33374C"/>
                </a:solidFill>
                <a:latin typeface="Aptos"/>
              </a:defRPr>
            </a:pPr>
            <a:r>
              <a:t>Document numerator, denominator, units, date range, and filter context for every rate.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800" b="0" i="0">
                <a:solidFill>
                  <a:srgbClr val="70748B"/>
                </a:solidFill>
                <a:latin typeface="Aptos"/>
              </a:defRPr>
            </a:pPr>
            <a:r>
              <a:t>UPI TRANSACTION ANALYTICS  •  EXCEL DATA ANALYST PORTFOLIO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70748B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500" b="1" i="0">
                <a:solidFill>
                  <a:srgbClr val="171F3E"/>
                </a:solidFill>
                <a:latin typeface="Aptos Display"/>
              </a:defRPr>
            </a:pPr>
            <a:r>
              <a:t>Data Quality, Assumptions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9716A6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607040" cy="44805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500"/>
              </a:spcAft>
              <a:defRPr sz="1500">
                <a:solidFill>
                  <a:srgbClr val="33374C"/>
                </a:solidFill>
                <a:latin typeface="Aptos"/>
              </a:defRPr>
            </a:pPr>
            <a:r>
              <a:t>•  The presentation uses the supplied dashboard and chart screenshots; exact aggregations should be reconciled to the original workbook.</a:t>
            </a:r>
          </a:p>
          <a:p>
            <a:pPr>
              <a:spcAft>
                <a:spcPts val="1500"/>
              </a:spcAft>
              <a:defRPr sz="1500">
                <a:solidFill>
                  <a:srgbClr val="33374C"/>
                </a:solidFill>
                <a:latin typeface="Aptos"/>
              </a:defRPr>
            </a:pPr>
            <a:r>
              <a:t>•  The visible screenshots do not establish the complete row count, date range, or all cleaning outcomes.</a:t>
            </a:r>
          </a:p>
          <a:p>
            <a:pPr>
              <a:spcAft>
                <a:spcPts val="1500"/>
              </a:spcAft>
              <a:defRPr sz="1500">
                <a:solidFill>
                  <a:srgbClr val="33374C"/>
                </a:solidFill>
                <a:latin typeface="Aptos"/>
              </a:defRPr>
            </a:pPr>
            <a:r>
              <a:t>•  Rates can change with slicer selections; note filter context when reporting metrics.</a:t>
            </a:r>
          </a:p>
          <a:p>
            <a:pPr>
              <a:spcAft>
                <a:spcPts val="1500"/>
              </a:spcAft>
              <a:defRPr sz="1500">
                <a:solidFill>
                  <a:srgbClr val="33374C"/>
                </a:solidFill>
                <a:latin typeface="Aptos"/>
              </a:defRPr>
            </a:pPr>
            <a:r>
              <a:t>•  A suspected-fraud flag indicates potential risk, not confirmed fraud.</a:t>
            </a:r>
          </a:p>
          <a:p>
            <a:pPr>
              <a:spcAft>
                <a:spcPts val="1500"/>
              </a:spcAft>
              <a:defRPr sz="1500">
                <a:solidFill>
                  <a:srgbClr val="33374C"/>
                </a:solidFill>
                <a:latin typeface="Aptos"/>
              </a:defRPr>
            </a:pPr>
            <a:r>
              <a:t>•  A high transaction amount does not necessarily imply high transaction count or better performance.</a:t>
            </a:r>
          </a:p>
          <a:p>
            <a:pPr>
              <a:spcAft>
                <a:spcPts val="1500"/>
              </a:spcAft>
              <a:defRPr sz="1500">
                <a:solidFill>
                  <a:srgbClr val="33374C"/>
                </a:solidFill>
                <a:latin typeface="Aptos"/>
              </a:defRPr>
            </a:pPr>
            <a:r>
              <a:t>•  Use source data to validate exact dates, hourly peaks, totals, and any ranking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800" b="0" i="0">
                <a:solidFill>
                  <a:srgbClr val="70748B"/>
                </a:solidFill>
                <a:latin typeface="Aptos"/>
              </a:defRPr>
            </a:pPr>
            <a:r>
              <a:t>UPI TRANSACTION ANALYTICS  •  EXCEL DATA ANALYST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70748B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500" b="1" i="0">
                <a:solidFill>
                  <a:srgbClr val="171F3E"/>
                </a:solidFill>
                <a:latin typeface="Aptos Display"/>
              </a:defRPr>
            </a:pPr>
            <a:r>
              <a:t>Technical Workflow &amp; Skills Demonstrated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9716A6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99339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971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057400"/>
            <a:ext cx="1773936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300" b="1" i="0">
                <a:solidFill>
                  <a:srgbClr val="171F3E"/>
                </a:solidFill>
                <a:latin typeface="Aptos"/>
              </a:defRPr>
            </a:pPr>
            <a:r>
              <a:t>Source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514600"/>
            <a:ext cx="1755648" cy="5486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Transaction-level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331720"/>
            <a:ext cx="32004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800" b="1" i="0">
                <a:solidFill>
                  <a:srgbClr val="9716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1828800"/>
            <a:ext cx="199339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B9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057400"/>
            <a:ext cx="1773936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300" b="1" i="0">
                <a:solidFill>
                  <a:srgbClr val="171F3E"/>
                </a:solidFill>
                <a:latin typeface="Aptos"/>
              </a:defRPr>
            </a:pPr>
            <a:r>
              <a:t>Preparation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2514600"/>
            <a:ext cx="1755648" cy="5486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Validate, clean, and derive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2331720"/>
            <a:ext cx="32004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800" b="1" i="0">
                <a:solidFill>
                  <a:srgbClr val="9716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21224" y="1828800"/>
            <a:ext cx="199339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72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0952" y="2057400"/>
            <a:ext cx="1773936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300" b="1" i="0">
                <a:solidFill>
                  <a:srgbClr val="171F3E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0096" y="2514600"/>
            <a:ext cx="1755648" cy="5486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Aggregate by time, app, status, state, bank,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2904" y="2331720"/>
            <a:ext cx="32004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800" b="1" i="0">
                <a:solidFill>
                  <a:srgbClr val="9716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0376" y="1828800"/>
            <a:ext cx="199339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971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0104" y="2057400"/>
            <a:ext cx="1773936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300" b="1" i="0">
                <a:solidFill>
                  <a:srgbClr val="171F3E"/>
                </a:solidFill>
                <a:latin typeface="Aptos"/>
              </a:defRPr>
            </a:pPr>
            <a:r>
              <a:t>Visualization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8" y="2514600"/>
            <a:ext cx="1755648" cy="5486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KPI cards, PivotCharts, slicers, heatmap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92056" y="2331720"/>
            <a:ext cx="32004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800" b="1" i="0">
                <a:solidFill>
                  <a:srgbClr val="9716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39528" y="1828800"/>
            <a:ext cx="199339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B9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9256" y="2057400"/>
            <a:ext cx="1773936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300" b="1" i="0">
                <a:solidFill>
                  <a:srgbClr val="171F3E"/>
                </a:solidFill>
                <a:latin typeface="Aptos"/>
              </a:defRPr>
            </a:pPr>
            <a:r>
              <a:t>Decision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2514600"/>
            <a:ext cx="1755648" cy="5486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000" b="0" i="0">
                <a:solidFill>
                  <a:srgbClr val="33374C"/>
                </a:solidFill>
                <a:latin typeface="Aptos"/>
              </a:defRPr>
            </a:pPr>
            <a:r>
              <a:t>Findings, follow-up questions, recommendations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977639"/>
            <a:ext cx="1051560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700" b="1" i="0">
                <a:solidFill>
                  <a:srgbClr val="171F3E"/>
                </a:solidFill>
                <a:latin typeface="Aptos"/>
              </a:defRPr>
            </a:pPr>
            <a:r>
              <a:t>Tools to describe only if actually 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480560"/>
            <a:ext cx="10241280" cy="11887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3374C"/>
                </a:solidFill>
                <a:latin typeface="Aptos"/>
              </a:defRPr>
            </a:pPr>
            <a:r>
              <a:t>•  Excel formulas, PivotTables, PivotCharts, slicers, conditional formatting, and dashboard layout.</a:t>
            </a:r>
          </a:p>
          <a:p>
            <a:pPr>
              <a:spcAft>
                <a:spcPts val="1000"/>
              </a:spcAft>
              <a:defRPr sz="1300">
                <a:solidFill>
                  <a:srgbClr val="33374C"/>
                </a:solidFill>
                <a:latin typeface="Aptos"/>
              </a:defRPr>
            </a:pPr>
            <a:r>
              <a:t>•  Future extensions: SQL for reusable queries, Power BI for sharing, Python for deeper analysis, and ML for risk-model experiments.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800" b="0" i="0">
                <a:solidFill>
                  <a:srgbClr val="70748B"/>
                </a:solidFill>
                <a:latin typeface="Aptos"/>
              </a:defRPr>
            </a:pPr>
            <a:r>
              <a:t>UPI TRANSACTION ANALYTICS  •  EXCEL DATA ANALYST PORTFOLIO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70748B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500" b="1" i="0">
                <a:solidFill>
                  <a:srgbClr val="171F3E"/>
                </a:solidFill>
                <a:latin typeface="Aptos Display"/>
              </a:defRPr>
            </a:pPr>
            <a:r>
              <a:t>Future Scope: SQL, Power BI, Python &amp;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9716A6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64008" cy="1417320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26463"/>
            <a:ext cx="49377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10512"/>
            <a:ext cx="4937759" cy="7589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300" b="0" i="0">
                <a:solidFill>
                  <a:srgbClr val="33374C"/>
                </a:solidFill>
                <a:latin typeface="Aptos"/>
              </a:defRPr>
            </a:pPr>
            <a:r>
              <a:t>Build reusable queries, validate KPI totals, and create bank/app/time-based aggregations.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64008" cy="141732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426463"/>
            <a:ext cx="49377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810512"/>
            <a:ext cx="4937759" cy="7589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300" b="0" i="0">
                <a:solidFill>
                  <a:srgbClr val="33374C"/>
                </a:solidFill>
                <a:latin typeface="Aptos"/>
              </a:defRPr>
            </a:pPr>
            <a:r>
              <a:t>Rebuild interactive reporting with a semantic model, DAX measures, and drill-through.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6324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063240"/>
            <a:ext cx="64008" cy="1417320"/>
          </a:xfrm>
          <a:prstGeom prst="rect">
            <a:avLst/>
          </a:prstGeom>
          <a:solidFill>
            <a:srgbClr val="B72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209544"/>
            <a:ext cx="49377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B723AB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593592"/>
            <a:ext cx="4937759" cy="7589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300" b="0" i="0">
                <a:solidFill>
                  <a:srgbClr val="33374C"/>
                </a:solidFill>
                <a:latin typeface="Aptos"/>
              </a:defRPr>
            </a:pPr>
            <a:r>
              <a:t>Automate data checks, explore distributions, and create repeatable analysis notebooks.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06324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063240"/>
            <a:ext cx="64008" cy="1417320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209544"/>
            <a:ext cx="493775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9716A6"/>
                </a:solidFill>
                <a:latin typeface="Aptos"/>
              </a:defRPr>
            </a:pPr>
            <a:r>
              <a:t>Machine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593592"/>
            <a:ext cx="4937759" cy="7589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300" b="0" i="0">
                <a:solidFill>
                  <a:srgbClr val="33374C"/>
                </a:solidFill>
                <a:latin typeface="Aptos"/>
              </a:defRPr>
            </a:pPr>
            <a:r>
              <a:t>If confirmed labels and suitable features are available, evaluate fraud-risk models with proper validation and class-imbalance handling.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66360"/>
            <a:ext cx="1024128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0" i="1">
                <a:solidFill>
                  <a:srgbClr val="70748B"/>
                </a:solidFill>
                <a:latin typeface="Aptos"/>
              </a:defRPr>
            </a:pPr>
            <a:r>
              <a:t>These are proposed extensions, not claims that the current Excel project already includes these tools.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800" b="0" i="0">
                <a:solidFill>
                  <a:srgbClr val="70748B"/>
                </a:solidFill>
                <a:latin typeface="Aptos"/>
              </a:defRPr>
            </a:pPr>
            <a:r>
              <a:t>UPI TRANSACTION ANALYTICS  •  EXCEL DATA ANALYST PORTFOLIO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70748B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500" b="1" i="0">
                <a:solidFill>
                  <a:srgbClr val="171F3E"/>
                </a:solidFill>
                <a:latin typeface="Aptos Display"/>
              </a:defRPr>
            </a:pPr>
            <a:r>
              <a:t>Project Summary &amp; 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84048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9716A6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5486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800" b="0" i="0">
                <a:solidFill>
                  <a:srgbClr val="33374C"/>
                </a:solidFill>
                <a:latin typeface="Aptos"/>
              </a:defRPr>
            </a:pPr>
            <a:r>
              <a:t>This project demonstrates how Excel can turn transaction-level data into an interactive business 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2560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33374C"/>
                </a:solidFill>
                <a:latin typeface="Aptos"/>
              </a:defRPr>
            </a:pPr>
            <a:r>
              <a:t>•  Summarized payment performance through KPI cards.</a:t>
            </a:r>
          </a:p>
          <a:p>
            <a:pPr>
              <a:spcAft>
                <a:spcPts val="1300"/>
              </a:spcAft>
              <a:defRPr sz="1600">
                <a:solidFill>
                  <a:srgbClr val="33374C"/>
                </a:solidFill>
                <a:latin typeface="Aptos"/>
              </a:defRPr>
            </a:pPr>
            <a:r>
              <a:t>•  Compared transaction value across applications, banks, states, and transaction types.</a:t>
            </a:r>
          </a:p>
          <a:p>
            <a:pPr>
              <a:spcAft>
                <a:spcPts val="1300"/>
              </a:spcAft>
              <a:defRPr sz="1600">
                <a:solidFill>
                  <a:srgbClr val="33374C"/>
                </a:solidFill>
                <a:latin typeface="Aptos"/>
              </a:defRPr>
            </a:pPr>
            <a:r>
              <a:t>•  Explored daily, hourly, and day-hour activity patterns.</a:t>
            </a:r>
          </a:p>
          <a:p>
            <a:pPr>
              <a:spcAft>
                <a:spcPts val="1300"/>
              </a:spcAft>
              <a:defRPr sz="1600">
                <a:solidFill>
                  <a:srgbClr val="33374C"/>
                </a:solidFill>
                <a:latin typeface="Aptos"/>
              </a:defRPr>
            </a:pPr>
            <a:r>
              <a:t>•  Highlighted suspected-fraud records for further investigation.</a:t>
            </a:r>
          </a:p>
          <a:p>
            <a:pPr>
              <a:spcAft>
                <a:spcPts val="1300"/>
              </a:spcAft>
              <a:defRPr sz="1600">
                <a:solidFill>
                  <a:srgbClr val="33374C"/>
                </a:solidFill>
                <a:latin typeface="Aptos"/>
              </a:defRPr>
            </a:pPr>
            <a:r>
              <a:t>•  Translated visual patterns into clear follow-up questions and business recommendations.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4846320"/>
            <a:ext cx="64008" cy="777240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992624"/>
            <a:ext cx="1033271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1" i="0">
                <a:solidFill>
                  <a:srgbClr val="1B9189"/>
                </a:solidFill>
                <a:latin typeface="Aptos"/>
              </a:defRPr>
            </a:pPr>
            <a:r>
              <a:t>Portfolio message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5376672"/>
            <a:ext cx="10332719" cy="1188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0" i="0">
                <a:solidFill>
                  <a:srgbClr val="33374C"/>
                </a:solidFill>
                <a:latin typeface="Aptos"/>
              </a:defRPr>
            </a:pPr>
            <a:r>
              <a:t>I used Excel to organize transaction data, visualize patterns, and identify areas for deeper business analysis.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800" b="0" i="0">
                <a:solidFill>
                  <a:srgbClr val="70748B"/>
                </a:solidFill>
                <a:latin typeface="Aptos"/>
              </a:defRPr>
            </a:pPr>
            <a:r>
              <a:t>UPI TRANSACTION ANALYTICS  •  EXCEL DATA ANALYST PORTFOLIO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900" b="1" i="0">
                <a:solidFill>
                  <a:srgbClr val="70748B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1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8229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23160"/>
            <a:ext cx="99669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2000" b="0" i="0">
                <a:solidFill>
                  <a:srgbClr val="DEC7EF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9966960" cy="8229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UPI TRANSACTION ANALYTICS DASHBOARD</a:t>
            </a:r>
            <a:br/>
            <a:r>
              <a:t>Data Analyst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172200"/>
            <a:ext cx="996696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000" b="0" i="0">
                <a:solidFill>
                  <a:srgbClr val="C3BED6"/>
                </a:solidFill>
                <a:latin typeface="Aptos"/>
              </a:defRPr>
            </a:pPr>
            <a:r>
              <a:t>Microsoft Excel • Digital Payments • Data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